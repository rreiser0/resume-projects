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1" r:id="rId3"/>
    <p:sldId id="280" r:id="rId4"/>
    <p:sldId id="263" r:id="rId5"/>
    <p:sldId id="279" r:id="rId6"/>
    <p:sldId id="278" r:id="rId7"/>
    <p:sldId id="271" r:id="rId8"/>
    <p:sldId id="282" r:id="rId9"/>
    <p:sldId id="283" r:id="rId10"/>
    <p:sldId id="284" r:id="rId11"/>
    <p:sldId id="285" r:id="rId12"/>
    <p:sldId id="286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31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B185E-60A0-4288-AD1D-5595E270998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7B017-8A07-4DEA-AE8F-33ECCA526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6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4B74D-E1D1-5739-13CA-8F1FC7528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74DD6-2EE5-1275-2C7E-FF81E1275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D0D01-838B-2CB7-A1EB-F067303CF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A9B94-D8C2-B2C4-67C3-E2157C417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89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FF771-6758-A6D7-31DA-C7FAF01D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2E5F6-5E3D-EEFF-759D-2CE74DCB3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1415D3-B5F2-DA7E-07C1-901CFB533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1EBBE-3307-8470-AE61-FE0ED5303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87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79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8C7CB-5976-AC6D-6DB7-48042699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668F3-5C89-19E5-8C59-4A50E4829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5E245-DCEA-5EFA-AB23-D9233FB8C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85C2A-C2FA-6BE7-7238-B850581EC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2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921DD-3CFD-2801-10AD-19A698B72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DD0D72-07D5-629F-C670-3ED122A1E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A4DDB-FB7C-3788-1DD4-33B7598BA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1F17E-6CA7-9EF4-B130-634A27B60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31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B19D2-37BB-BA21-A076-758A02BFF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82CB2-E96C-8481-92BB-9A9C6250A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911DD-5B16-0F2A-9D7C-511F552E5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3B7F1-048C-E49A-F897-8FD1C1659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42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A8A1A-E3C8-953A-B0CF-E351764F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7B465-F952-965C-06A5-7557A8453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F830E-54D1-5063-0726-BEE796A38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ACF50-9D08-0F31-D985-C2E99331A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52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FAD59-07F1-B1DA-D5EA-ACF141096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5C1E8-2EC9-B82E-7C47-3F3562ADC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57822-21E1-E04C-D0C9-08CEFDBCD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0C679-5122-81FF-0F4B-DF00DB076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74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E0492-519E-E1EB-8C18-05D1631D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22A64-5373-EA25-EFFD-AD2AB0FAD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D0F49-A4F7-76DE-F431-1F37A721A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B94AA-8517-AAEC-EFB0-432381C49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69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087E1-EFBF-54CA-CDE1-7202FE96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3552F-05DD-FC00-1251-2685F2299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69EF2-495D-BC5E-F3B2-CEF0AE4F6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774E3-B023-9EA8-347A-52F643B21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05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8228A-E99E-0A05-70CE-410E0EB30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A6017-1EB5-64F6-C999-9E4B858BF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ED463-FF40-5B7A-5F02-630251B36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1D761-D768-5013-10F3-89195ADE3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82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A0829-1D2D-B5AB-0AC9-716537333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29CE5-DC84-242F-1B6B-2D5E4EFC5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C20F9-94DF-2513-C619-9F86CCA3D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C8231-C800-BDD9-CE66-5E4EDFB2A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7B017-8A07-4DEA-AE8F-33ECCA5263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38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CBDDB-132B-636A-8973-2BB7C1B1C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0C768-0800-59C9-D136-D1ABB6AEB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9C841-2A6D-DB9E-C5D9-C88018BD7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336CE-FDB8-6A1A-5BAC-4F7952DD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29026-CBC5-A633-669A-8FDF7613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4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F5801-8B7F-09F5-BBF7-6F010E54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36D82-F793-C22A-8C2C-8B7B9FE39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26689-58EF-CE36-110E-43C92279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4B0C8-69C3-A26C-F5A9-7124E5189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7D170-3F2F-A1DF-380E-5A7C1CACE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7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C383-83A6-6F33-DD9D-56F801F9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C2D9F-94D3-6DAD-C202-2238133EC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7F12C-7924-C74B-067E-A5EABD43E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0B8AB-443E-3B42-D874-24725B97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3C169-4908-548F-1F72-20260021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02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27B52-7B78-8C65-3964-DC7BB52E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2FD2-E263-E6C5-0183-3408388C3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F592B-8F36-FE4F-B931-FAA8BA4EE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CEC28-9FB4-A32E-6A92-8281454A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7BDBC-4CB6-5AEB-E773-B588904CE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794BD-C9E1-D2B6-CD74-1E62308B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29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E3AE-A783-4FCC-0167-1C2C5BEFE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945D1-96C1-8763-82BC-13C59DA07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8CB8A-A11C-F5C7-8A22-962203033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26D09-862F-1418-660B-C3D44AF78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0CE78-3040-0CB7-CE56-5AD9A5163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098DCA-76E4-7817-16E2-B13A3EF6F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1FA904-94EE-564B-1021-B4AD881F9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135BD6-3B6B-BB7F-3FDD-35C750EC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8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F930-F26B-230C-8B78-DE812945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02434-B45F-AF4D-FE40-654E5812E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4BF524-C611-45DC-3F83-E28C9748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2B04C-B377-BE33-1668-8C2B1E9B4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9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1F52E-86C1-EC5C-A105-30481789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69ABF-AC6D-E25A-1E7B-212D2FF6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A1A73-B5A8-A71A-569F-37C3DB7BF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25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C9E2F-6F79-EF02-6879-8BC94339E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863BD-5ECA-CA75-0BA6-393369EA1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D4122-751B-CE61-0101-B28399951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FBC82-D45E-F6B2-E67F-4AA846ADB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1A612-8F75-D81A-A5F9-115A4CF2D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02799-F7FF-357B-5234-544665E4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0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BE28-A96F-7294-FF70-5CF3A2F3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FD1A30-8B55-6A28-B391-C62BDAD9E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49998-1EEE-932E-A809-C95E703FA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25A87-3747-F56D-BEE0-EA395D43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5DB56-5C83-2A32-2741-FF35C31B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F3F1-695D-53BF-0CA6-4505B5EF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76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3908-6B11-7B95-011F-2AE7674B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DA5FC-E65D-1D60-CE73-7D2282927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5AF4B-0CAE-BE7C-AE8B-A615A6ED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1151F-0623-57F7-C57C-AFB3DB77F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0EC3A-C2D7-CE45-EE94-BD69A754A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76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29F504-BCC4-AB8B-F6D2-E2367AF6C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7F4DF-DE04-E0A4-F77F-EB9972836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2FDDE-879F-C5B4-137B-D1531BC69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CC6AB-4662-5439-C813-34FD9AE6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54844-B089-2FA3-A948-44E5AF59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4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B9158-AD3F-AD0C-FCCA-88F725769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DA01D-E78E-72B0-7F65-9EC38C6EE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74BFC-DB36-77BA-4EC9-BDCB939DF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1353E-CD01-439C-B3FC-6331D41AEE6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E3AE2-A675-F922-38D3-1D0DB2166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13F99-B031-68D7-493D-67893656E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97AB7-E1CD-4923-B65D-72622C8C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ourworldindata.org/renewable-energy" TargetMode="External"/><Relationship Id="rId3" Type="http://schemas.openxmlformats.org/officeDocument/2006/relationships/hyperlink" Target="https://www.macrotrends.net/stocks/charts/NEE/nextera-energy/stock-price-history" TargetMode="External"/><Relationship Id="rId7" Type="http://schemas.openxmlformats.org/officeDocument/2006/relationships/hyperlink" Target="https://ourworldindata.org/fossil-fuel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lobalenergymonitor.org/projects/global-nuclear-power-tracker" TargetMode="External"/><Relationship Id="rId5" Type="http://schemas.openxmlformats.org/officeDocument/2006/relationships/hyperlink" Target="https://inflationdata.com/articles/inflation-adjusted-prices/historical-crude-oil-prices-table/" TargetMode="External"/><Relationship Id="rId10" Type="http://schemas.openxmlformats.org/officeDocument/2006/relationships/hyperlink" Target="https://data.worldbank.org/indicator/NY.GDP.MKTP.CD?end=2023&amp;start=1960" TargetMode="External"/><Relationship Id="rId4" Type="http://schemas.openxmlformats.org/officeDocument/2006/relationships/hyperlink" Target="https://www.macrotrends.net/stocks/charts/CVX/chevron/stock-price-history" TargetMode="External"/><Relationship Id="rId9" Type="http://schemas.openxmlformats.org/officeDocument/2006/relationships/hyperlink" Target="https://ourworldindata.org/global-educ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Factories And Smoke">
            <a:extLst>
              <a:ext uri="{FF2B5EF4-FFF2-40B4-BE49-F238E27FC236}">
                <a16:creationId xmlns:a16="http://schemas.microsoft.com/office/drawing/2014/main" id="{EF66AC52-3693-4994-8BF8-50BBD269412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63011-5E8F-1A95-E17D-78FC50289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Energy Industry Projections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F3A07-869D-E3BA-B0A7-61E3A8ABD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Ryan Reiser</a:t>
            </a:r>
          </a:p>
        </p:txBody>
      </p:sp>
    </p:spTree>
    <p:extLst>
      <p:ext uri="{BB962C8B-B14F-4D97-AF65-F5344CB8AC3E}">
        <p14:creationId xmlns:p14="http://schemas.microsoft.com/office/powerpoint/2010/main" val="379626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8CD6F-4B1A-E8D5-2009-1C58853F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DF3DAB-3578-C8D0-8EB3-8283AB4B2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1C75516-5CA4-1D91-28DF-3356BDBFF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2AD1557-E9F7-9BF2-A21C-1607F4588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C3668AE-1D2E-5422-5319-99B6BBE6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Collection &amp; Expected Signs of Variables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F51DEE-17F2-C212-79C4-E7B3F4402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09"/>
            <a:ext cx="10944672" cy="4912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Dependent Variables: </a:t>
            </a:r>
          </a:p>
          <a:p>
            <a:r>
              <a:rPr lang="en-US" sz="2200" dirty="0">
                <a:solidFill>
                  <a:srgbClr val="C00000"/>
                </a:solidFill>
              </a:rPr>
              <a:t>Yearly Global Fossil Fuel Energy Consumption (</a:t>
            </a:r>
            <a:r>
              <a:rPr lang="en-US" sz="2200" i="1" dirty="0">
                <a:solidFill>
                  <a:srgbClr val="C00000"/>
                </a:solidFill>
              </a:rPr>
              <a:t>TWh</a:t>
            </a:r>
            <a:r>
              <a:rPr lang="en-US" sz="2200" dirty="0">
                <a:solidFill>
                  <a:srgbClr val="C00000"/>
                </a:solidFill>
              </a:rPr>
              <a:t>)</a:t>
            </a:r>
          </a:p>
          <a:p>
            <a:r>
              <a:rPr lang="en-US" sz="2200" dirty="0">
                <a:solidFill>
                  <a:srgbClr val="00B050"/>
                </a:solidFill>
              </a:rPr>
              <a:t>Yearly Global Renewable Energy Consumption (</a:t>
            </a:r>
            <a:r>
              <a:rPr lang="en-US" sz="2200" i="1" dirty="0">
                <a:solidFill>
                  <a:srgbClr val="00B050"/>
                </a:solidFill>
              </a:rPr>
              <a:t>TWh</a:t>
            </a:r>
            <a:r>
              <a:rPr lang="en-US" sz="2200" dirty="0">
                <a:solidFill>
                  <a:srgbClr val="00B050"/>
                </a:solidFill>
              </a:rPr>
              <a:t>)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dirty="0"/>
              <a:t>Independent Variables:</a:t>
            </a:r>
          </a:p>
          <a:p>
            <a:r>
              <a:rPr lang="en-US" sz="2200" dirty="0"/>
              <a:t>Yearly World GDP (</a:t>
            </a:r>
            <a:r>
              <a:rPr lang="en-US" sz="2200" i="1" dirty="0"/>
              <a:t>USD</a:t>
            </a:r>
            <a:r>
              <a:rPr lang="en-US" sz="2200" dirty="0"/>
              <a:t>) </a:t>
            </a:r>
            <a:r>
              <a:rPr lang="en-US" sz="2200" dirty="0">
                <a:solidFill>
                  <a:srgbClr val="C00000"/>
                </a:solidFill>
              </a:rPr>
              <a:t>(+)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B050"/>
                </a:solidFill>
              </a:rPr>
              <a:t>(+)</a:t>
            </a:r>
          </a:p>
          <a:p>
            <a:r>
              <a:rPr lang="en-US" sz="2200" dirty="0"/>
              <a:t>Yearly Crude Oil Prices (</a:t>
            </a:r>
            <a:r>
              <a:rPr lang="en-US" sz="2200" i="1" dirty="0"/>
              <a:t>USD</a:t>
            </a:r>
            <a:r>
              <a:rPr lang="en-US" sz="2200" dirty="0"/>
              <a:t>) </a:t>
            </a:r>
            <a:r>
              <a:rPr lang="en-US" sz="2200" dirty="0">
                <a:solidFill>
                  <a:srgbClr val="C00000"/>
                </a:solidFill>
              </a:rPr>
              <a:t>(-)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B050"/>
                </a:solidFill>
              </a:rPr>
              <a:t>(+)</a:t>
            </a:r>
          </a:p>
          <a:p>
            <a:r>
              <a:rPr lang="en-US" sz="2200" dirty="0"/>
              <a:t>Yearly Global Tertiary Education Enrollments </a:t>
            </a:r>
            <a:r>
              <a:rPr lang="en-US" sz="2200" dirty="0">
                <a:solidFill>
                  <a:srgbClr val="C00000"/>
                </a:solidFill>
              </a:rPr>
              <a:t>(+)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B050"/>
                </a:solidFill>
              </a:rPr>
              <a:t>(+)</a:t>
            </a:r>
          </a:p>
          <a:p>
            <a:r>
              <a:rPr lang="en-US" sz="2200" dirty="0"/>
              <a:t>Yearly Global Nuclear Powerplants Built </a:t>
            </a:r>
            <a:r>
              <a:rPr lang="en-US" sz="2200" dirty="0">
                <a:solidFill>
                  <a:srgbClr val="C00000"/>
                </a:solidFill>
              </a:rPr>
              <a:t>(-)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B050"/>
                </a:solidFill>
              </a:rPr>
              <a:t>(+)</a:t>
            </a:r>
          </a:p>
          <a:p>
            <a:r>
              <a:rPr lang="en-US" sz="2200" dirty="0"/>
              <a:t>Environmentalism Movement (</a:t>
            </a:r>
            <a:r>
              <a:rPr lang="en-US" sz="2200" i="1" dirty="0"/>
              <a:t>Dummy Variable for Year &gt; 2007</a:t>
            </a:r>
            <a:r>
              <a:rPr lang="en-US" sz="2200" dirty="0"/>
              <a:t>) </a:t>
            </a:r>
            <a:r>
              <a:rPr lang="en-US" sz="2200" dirty="0">
                <a:solidFill>
                  <a:srgbClr val="C00000"/>
                </a:solidFill>
              </a:rPr>
              <a:t>(-)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B050"/>
                </a:solidFill>
              </a:rPr>
              <a:t>(+)</a:t>
            </a:r>
          </a:p>
          <a:p>
            <a:endParaRPr lang="en-US" sz="2200" dirty="0"/>
          </a:p>
          <a:p>
            <a:pPr marL="0" indent="0">
              <a:buNone/>
            </a:pPr>
            <a:endParaRPr lang="en-US" sz="2200" i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60900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BC529-DE7F-4C3A-69BF-5AEEE2AB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0128C62-2D22-8CE3-2B00-F04819C5D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907AD6B-CDE4-34F0-836E-45ED738D9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2992649-F2F1-C5B7-A487-544AF462F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5FEAAE-78E1-1A0E-3695-391A8F66B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Generate Log Differences of Variables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291A6A-2EB2-FF5C-1F0F-9CC0D0406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6" y="1834769"/>
            <a:ext cx="12475464" cy="4351338"/>
          </a:xfrm>
        </p:spPr>
        <p:txBody>
          <a:bodyPr>
            <a:normAutofit/>
          </a:bodyPr>
          <a:lstStyle/>
          <a:p>
            <a:r>
              <a:rPr lang="en-US" sz="2500" dirty="0"/>
              <a:t>Approximates growth rates</a:t>
            </a:r>
          </a:p>
          <a:p>
            <a:pPr marL="0" indent="0">
              <a:buNone/>
            </a:pPr>
            <a:endParaRPr lang="en-US" sz="2500" dirty="0"/>
          </a:p>
          <a:p>
            <a:r>
              <a:rPr lang="en-US" sz="2500" dirty="0"/>
              <a:t>Reduces heteroskedasticity</a:t>
            </a:r>
          </a:p>
          <a:p>
            <a:endParaRPr lang="en-US" sz="2500" dirty="0"/>
          </a:p>
          <a:p>
            <a:r>
              <a:rPr lang="en-US" sz="2500" dirty="0"/>
              <a:t>Reduces multicollinearity</a:t>
            </a:r>
          </a:p>
          <a:p>
            <a:pPr marL="0" indent="0">
              <a:buNone/>
            </a:pPr>
            <a:endParaRPr lang="en-US" sz="2500" dirty="0"/>
          </a:p>
          <a:p>
            <a:r>
              <a:rPr lang="en-US" sz="2500" dirty="0"/>
              <a:t>Prevents trending relationships from inflating results (spurious correlations)</a:t>
            </a:r>
          </a:p>
          <a:p>
            <a:endParaRPr lang="en-US" sz="2500" dirty="0"/>
          </a:p>
          <a:p>
            <a:pPr marL="0" indent="0">
              <a:buNone/>
            </a:pPr>
            <a:r>
              <a:rPr lang="en-US" sz="2500" dirty="0"/>
              <a:t>"</a:t>
            </a:r>
            <a:r>
              <a:rPr lang="en-US" sz="2500" b="1" dirty="0"/>
              <a:t>How much did a variable change in percentage from one year to the next?</a:t>
            </a:r>
            <a:r>
              <a:rPr lang="en-US" sz="2500" dirty="0"/>
              <a:t>"</a:t>
            </a:r>
          </a:p>
          <a:p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789382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A8AAAD4-3ECE-674A-25ED-59F9803FC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Empirical Models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7C84BC5-0226-2345-9458-9CC06F811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968" y="1690688"/>
            <a:ext cx="10515600" cy="4351338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200" kern="1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dln_FossilFuelTotal</a:t>
            </a:r>
            <a:r>
              <a:rPr lang="en-US" sz="2200" i="1" kern="100" baseline="-250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β</a:t>
            </a:r>
            <a:r>
              <a:rPr lang="en-US" sz="2200" kern="100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β</a:t>
            </a:r>
            <a:r>
              <a:rPr lang="en-US" sz="2200" kern="100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* </a:t>
            </a:r>
            <a:r>
              <a:rPr lang="en-US" sz="2200" kern="1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dln_WorldGDP</a:t>
            </a:r>
            <a:r>
              <a:rPr lang="en-US" sz="2200" kern="100" baseline="-250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β</a:t>
            </a:r>
            <a:r>
              <a:rPr lang="en-US" sz="2200" kern="100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* </a:t>
            </a:r>
            <a:r>
              <a:rPr lang="en-US" sz="2200" kern="1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dln_CrudeOilPrice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β</a:t>
            </a:r>
            <a:r>
              <a:rPr lang="en-US" sz="2200" kern="100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* </a:t>
            </a:r>
            <a:r>
              <a:rPr lang="en-US" sz="2200" kern="1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dln_TeriaryEnrollment</a:t>
            </a:r>
            <a:r>
              <a:rPr lang="en-US" sz="2200" kern="100" baseline="-250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β</a:t>
            </a:r>
            <a:r>
              <a:rPr lang="en-US" sz="2200" kern="100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* </a:t>
            </a:r>
            <a:r>
              <a:rPr lang="en-US" sz="2200" kern="1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dln_NuclearPlants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β</a:t>
            </a:r>
            <a:r>
              <a:rPr lang="en-US" sz="2200" kern="100" baseline="-25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 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* </a:t>
            </a:r>
            <a:r>
              <a:rPr lang="en-US" sz="2200" kern="1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EnviroDummy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</a:t>
            </a:r>
            <a:r>
              <a:rPr lang="en-US" sz="2200" kern="1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ε</a:t>
            </a:r>
            <a:r>
              <a:rPr lang="en-US" sz="2200" kern="100" baseline="-250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endParaRPr lang="en-US" sz="2200" kern="100" baseline="-250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2200" kern="100" baseline="-250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200" kern="1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dln_RenewableTotal</a:t>
            </a:r>
            <a:r>
              <a:rPr lang="en-US" sz="2200" i="1" kern="100" baseline="-250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β</a:t>
            </a:r>
            <a:r>
              <a:rPr lang="en-US" sz="2200" kern="1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0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β</a:t>
            </a:r>
            <a:r>
              <a:rPr lang="en-US" sz="2200" kern="1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* </a:t>
            </a:r>
            <a:r>
              <a:rPr lang="en-US" sz="2200" kern="1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dln_WorldGDP</a:t>
            </a:r>
            <a:r>
              <a:rPr lang="en-US" sz="2200" kern="100" baseline="-250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β</a:t>
            </a:r>
            <a:r>
              <a:rPr lang="en-US" sz="2200" kern="1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* </a:t>
            </a:r>
            <a:r>
              <a:rPr lang="en-US" sz="2200" kern="1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dln_CrudeOilPrice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β</a:t>
            </a:r>
            <a:r>
              <a:rPr lang="en-US" sz="2200" kern="1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* </a:t>
            </a:r>
            <a:r>
              <a:rPr lang="en-US" sz="2200" kern="1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dln_TeriaryEnrollment</a:t>
            </a:r>
            <a:r>
              <a:rPr lang="en-US" sz="2200" kern="100" baseline="-250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β</a:t>
            </a:r>
            <a:r>
              <a:rPr lang="en-US" sz="2200" kern="1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* </a:t>
            </a:r>
            <a:r>
              <a:rPr lang="en-US" sz="2200" kern="1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dln_NuclearPlants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β</a:t>
            </a:r>
            <a:r>
              <a:rPr lang="en-US" sz="2200" kern="100" baseline="-25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 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* </a:t>
            </a:r>
            <a:r>
              <a:rPr lang="en-US" sz="2200" kern="1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EnviroDummy</a:t>
            </a:r>
            <a:r>
              <a:rPr lang="en-US" sz="22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 </a:t>
            </a:r>
            <a:r>
              <a:rPr lang="en-US" sz="2200" kern="1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ε</a:t>
            </a:r>
            <a:r>
              <a:rPr lang="en-US" sz="2200" kern="100" baseline="-2500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endParaRPr lang="en-US" sz="2200" kern="100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782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B1B54-2388-EC2C-AAFA-7ED42814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2512A02-774E-04AA-0494-85753671F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97F50AB-9536-7C47-530E-13FB04C4B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E2FD5-03A0-F3B5-BAED-7D9383508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kern="1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Predicting Fossil Fuel Energy Consumption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E9E851-A6E5-44AE-7C22-EC30EEAB0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74" y="1172882"/>
            <a:ext cx="10653252" cy="4128135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13B41C1-0208-B6EE-059E-2BD945AE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A00F3A-D72E-88A9-9D96-E397A5C0759F}"/>
              </a:ext>
            </a:extLst>
          </p:cNvPr>
          <p:cNvSpPr txBox="1">
            <a:spLocks/>
          </p:cNvSpPr>
          <p:nvPr/>
        </p:nvSpPr>
        <p:spPr>
          <a:xfrm>
            <a:off x="723900" y="5301017"/>
            <a:ext cx="11468099" cy="16452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Model explains 34.38% of variation within fossil fuel based energy consumption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Statistically Significant Variables: </a:t>
            </a:r>
            <a:r>
              <a:rPr lang="en-US" sz="2200" dirty="0" err="1"/>
              <a:t>WorldGDP</a:t>
            </a:r>
            <a:r>
              <a:rPr lang="en-US" sz="2200" dirty="0"/>
              <a:t> &amp; Nuclear Plants Built (+?)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Surprising to see Crude Oil have a low impact and positive coefficient</a:t>
            </a:r>
          </a:p>
        </p:txBody>
      </p:sp>
    </p:spTree>
    <p:extLst>
      <p:ext uri="{BB962C8B-B14F-4D97-AF65-F5344CB8AC3E}">
        <p14:creationId xmlns:p14="http://schemas.microsoft.com/office/powerpoint/2010/main" val="877706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00A1-96FA-C80A-2050-B9F4D924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0A1CB10-D763-8F0F-254B-A38274EA4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B6BE6FF-91E0-9E3D-6425-E870C2D2D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7630ACC-27EF-931E-5D6D-DD4C48B1C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B22892-793E-F129-6E68-EAEE1548B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Further Testing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6D212B-DD2E-8E59-F7F3-7691A06B4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98" y="2141537"/>
            <a:ext cx="121106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Variance Inflation Factor Test		Heteroskedasticity Test		           Omitted Variable Test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181527-EECD-B450-5F30-755BB4D58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30" y="2544052"/>
            <a:ext cx="3023776" cy="2012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7F725A-E175-E773-10EC-D980EE529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271" y="2544052"/>
            <a:ext cx="3921337" cy="2012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BDB920-25EF-3734-727C-CB0480024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804" y="2544052"/>
            <a:ext cx="3621026" cy="201237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98824AD-F2DD-204E-DCBA-905CEF5B4C4A}"/>
              </a:ext>
            </a:extLst>
          </p:cNvPr>
          <p:cNvSpPr txBox="1">
            <a:spLocks/>
          </p:cNvSpPr>
          <p:nvPr/>
        </p:nvSpPr>
        <p:spPr>
          <a:xfrm>
            <a:off x="759372" y="498495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/>
              <a:t>No signs of significant multicollinearity, heteroskedasticity, or omitted variables </a:t>
            </a:r>
          </a:p>
        </p:txBody>
      </p:sp>
    </p:spTree>
    <p:extLst>
      <p:ext uri="{BB962C8B-B14F-4D97-AF65-F5344CB8AC3E}">
        <p14:creationId xmlns:p14="http://schemas.microsoft.com/office/powerpoint/2010/main" val="33471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CD511-B237-340D-7326-A8AD035C8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7E5EE96-BCCF-17D7-95E3-10F84B7BE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DB0F28E-B878-81A3-73C2-490FE7B49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6F84F-084F-BEDD-D18C-14FE9F25D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04" y="383459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kern="1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Predicting Renewable Energy Consumption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BBE16DC-7E78-1AAE-39DF-4A22F5074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059E280-FB0D-F638-2ECF-7CC77402339B}"/>
              </a:ext>
            </a:extLst>
          </p:cNvPr>
          <p:cNvSpPr txBox="1">
            <a:spLocks/>
          </p:cNvSpPr>
          <p:nvPr/>
        </p:nvSpPr>
        <p:spPr>
          <a:xfrm>
            <a:off x="677871" y="5321170"/>
            <a:ext cx="10865515" cy="1598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Marginally better results than the fossil fuel regression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Model explains 37.88% of variation within renewable energy consumption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Statistically Significant Variables: Tertiary Education Enrollments (-?) &amp; Nuclear Plants Built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A7D6D0-F0DB-453D-D203-BEDC31D37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1" y="1166211"/>
            <a:ext cx="10329366" cy="407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00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3C6A4-591D-49F6-E7B7-183575F99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AD5530A-1C8C-CEF7-BCF3-606A83845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13CD275-EC3F-26F3-9115-597A498C7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1783AB9-C2F9-91BB-CABB-7AD70E5E4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2649C95-BD9F-02FB-5BF7-63CACC237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Further Testing (again)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4DE55C-11D5-DB23-17ED-A0B1183B7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225" y="2076533"/>
            <a:ext cx="121106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Variance Inflation Factor Test		Heteroskedasticity Test		           Omitted Variable Test	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C811635-2BE8-7D89-FBFC-95D3C8FE00C5}"/>
              </a:ext>
            </a:extLst>
          </p:cNvPr>
          <p:cNvSpPr txBox="1">
            <a:spLocks/>
          </p:cNvSpPr>
          <p:nvPr/>
        </p:nvSpPr>
        <p:spPr>
          <a:xfrm>
            <a:off x="1061768" y="4649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/>
              <a:t>No signs of significant multicollinearity, heteroskedasticity, or omitted variables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C29095-A880-3140-ABC3-A46B9146D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01" y="2472756"/>
            <a:ext cx="3297028" cy="20474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34233B-89A8-91BC-A322-8E6147B12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746" y="2472757"/>
            <a:ext cx="3808781" cy="20474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3EF9AF-CA8C-A199-D920-3F30983D7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437" y="2472756"/>
            <a:ext cx="3896563" cy="204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30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CEF9-EDF3-9A2B-0917-E6180081C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D5EA469-DB43-7FA9-2ADE-54921BD50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79C95C3-BB92-EE9B-0297-E26017C9E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10C25D8-8FD3-BAC8-9980-E8B5372E8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167C1BB-53E2-3944-B87F-3EA0A3D54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Why does this matter to business majors?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41691A-AD01-EDD9-37CC-C8F6E6E78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41" y="1372458"/>
            <a:ext cx="9381301" cy="38490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A5A8F6-01C2-65A9-3753-D1CCCE83A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3356" y="209591"/>
            <a:ext cx="1040888" cy="116286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598E930-4BB5-7802-7B55-A5AEC7E6DCE2}"/>
              </a:ext>
            </a:extLst>
          </p:cNvPr>
          <p:cNvSpPr txBox="1">
            <a:spLocks/>
          </p:cNvSpPr>
          <p:nvPr/>
        </p:nvSpPr>
        <p:spPr>
          <a:xfrm>
            <a:off x="677871" y="5321170"/>
            <a:ext cx="10865515" cy="1598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Model explains 0.056% of variation within Chevron stock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Statistically Significant Variables: None </a:t>
            </a:r>
            <a:r>
              <a:rPr lang="en-US" sz="2200" dirty="0">
                <a:sym typeface="Wingdings" panose="05000000000000000000" pitchFamily="2" charset="2"/>
              </a:rPr>
              <a:t>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4611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2900-D75C-E425-95CC-795D6769E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7868739-B8A2-0933-83FC-58573EA9A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4708869-4087-DAEC-CBE9-480EB6584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B36E56A-9376-D300-E268-8FA90E487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50D2E1-C3BC-66D1-5EDD-B16070CE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89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Further Testing (again, again)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0ABDC5-AE9A-831C-7EE8-1152D87F3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225" y="2081931"/>
            <a:ext cx="121106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Variance Inflation Factor Test		Heteroskedasticity Test		           Omitted Variable Test	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76BDD47-5621-EAE4-3A95-E8AE6E6AE014}"/>
              </a:ext>
            </a:extLst>
          </p:cNvPr>
          <p:cNvSpPr txBox="1">
            <a:spLocks/>
          </p:cNvSpPr>
          <p:nvPr/>
        </p:nvSpPr>
        <p:spPr>
          <a:xfrm>
            <a:off x="1061768" y="4649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/>
              <a:t>No signs of significant multicollinearity, heteroskedasticity, or omitted variables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BB3C27-9864-714B-8AED-9CB7546EA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14" y="2458393"/>
            <a:ext cx="3134162" cy="21910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7B4753-CDE1-6438-C233-08C1F0AD9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655" y="2458392"/>
            <a:ext cx="4048690" cy="21910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B67D27-1C6E-40CE-2CEC-69DFEF3BA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591" y="2458392"/>
            <a:ext cx="3732410" cy="219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33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917B1-0685-A451-5D8F-06420465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6FECE37-D5E8-5F52-B64E-1F9CAF1F5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1A97D9D-256E-D052-13F7-873541FD2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FEFA3DE-0985-EAF9-1C96-444C18A76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BEE892-10B0-4068-BD4A-9A9FCA24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93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One final regression!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E884F4-6F69-0426-CF2C-9963D3EB9D3B}"/>
              </a:ext>
            </a:extLst>
          </p:cNvPr>
          <p:cNvSpPr txBox="1">
            <a:spLocks/>
          </p:cNvSpPr>
          <p:nvPr/>
        </p:nvSpPr>
        <p:spPr>
          <a:xfrm>
            <a:off x="677871" y="5321170"/>
            <a:ext cx="10865515" cy="1598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Model explains… less than nothing?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Statistically Significant Variables: None </a:t>
            </a:r>
            <a:r>
              <a:rPr lang="en-US" sz="2200" dirty="0">
                <a:sym typeface="Wingdings" panose="05000000000000000000" pitchFamily="2" charset="2"/>
              </a:rPr>
              <a:t></a:t>
            </a:r>
            <a:endParaRPr lang="en-US" sz="2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34A878-6344-9DEC-C6C3-20B0BBD16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197" y="249396"/>
            <a:ext cx="2576688" cy="11380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794CA2-88A0-AEAB-0029-16AE4A299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53" y="1448974"/>
            <a:ext cx="9295674" cy="387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74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5F996-2B71-066F-D467-85ED784CD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7E1444C-3FD0-DEA6-1468-7B5A22819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2469E4A-8B0F-1966-E244-3A55600A3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5F41FBA-C57D-2917-19FA-BDE947047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F9703E-3F11-5F3F-35A0-2C57044E1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Further Testing (again, again, again)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21AA5-BF72-A9DC-F73E-236843D1E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225" y="2055811"/>
            <a:ext cx="121106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Variance Inflation Factor Test		Heteroskedasticity Test		           Omitted Variable Test	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CD29F3-CF8A-C9AD-1ABE-67A1B598D553}"/>
              </a:ext>
            </a:extLst>
          </p:cNvPr>
          <p:cNvSpPr txBox="1">
            <a:spLocks/>
          </p:cNvSpPr>
          <p:nvPr/>
        </p:nvSpPr>
        <p:spPr>
          <a:xfrm>
            <a:off x="1061768" y="49471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500" dirty="0"/>
              <a:t>No signs of significant multicollinearity, heteroskedasticity, or omitted variables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95B6D-5AB2-3DAF-EB71-25C5BD26F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44" y="2450835"/>
            <a:ext cx="3234802" cy="23757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789D3E-2192-9C12-431B-694323222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8786" y="2450835"/>
            <a:ext cx="4134427" cy="2325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8E569D-3220-0385-955B-B91C5D1A5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445" y="2471407"/>
            <a:ext cx="3591426" cy="230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40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FA2B5-B151-0FB9-C0B3-4D5D3E12B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35807BB-3ADD-937D-F080-A6AEFF7BF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B9AB00C-7120-ED24-E349-746EB2E6D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E9D623B-1700-5998-C01C-2AC391D9B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0A9B3B-8AEE-358D-26DC-09F1CBDE4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05755-E3BC-BA25-B72E-CD1C9C17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864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500" dirty="0"/>
              <a:t>Data Source Citations</a:t>
            </a:r>
          </a:p>
          <a:p>
            <a:pPr marL="0" indent="0" algn="ctr">
              <a:buNone/>
            </a:pPr>
            <a:endParaRPr lang="en-US" sz="1200" dirty="0"/>
          </a:p>
          <a:p>
            <a:r>
              <a:rPr lang="en-US" sz="1800" dirty="0">
                <a:hlinkClick r:id="rId3"/>
              </a:rPr>
              <a:t>https://www.macrotrends.net/stocks/charts/NEE/nextera-energy/stock-price-history</a:t>
            </a:r>
            <a:endParaRPr lang="en-US" sz="1800" dirty="0"/>
          </a:p>
          <a:p>
            <a:r>
              <a:rPr lang="en-US" sz="1800" dirty="0">
                <a:hlinkClick r:id="rId4"/>
              </a:rPr>
              <a:t>https://www.macrotrends.net/stocks/charts/CVX/chevron/stock-price-history</a:t>
            </a:r>
            <a:endParaRPr lang="en-US" sz="1800" dirty="0"/>
          </a:p>
          <a:p>
            <a:r>
              <a:rPr lang="en-US" sz="1800" dirty="0">
                <a:hlinkClick r:id="rId5"/>
              </a:rPr>
              <a:t>https://inflationdata.com/articles/inflation-adjusted-prices/historical-crude-oil-prices-table/</a:t>
            </a:r>
            <a:endParaRPr lang="en-US" sz="1800" dirty="0"/>
          </a:p>
          <a:p>
            <a:r>
              <a:rPr lang="en-US" sz="1800" dirty="0">
                <a:hlinkClick r:id="rId6"/>
              </a:rPr>
              <a:t>https://globalenergymonitor.org/projects/global-nuclear-power-tracker</a:t>
            </a:r>
            <a:endParaRPr lang="en-US" sz="1800" dirty="0"/>
          </a:p>
          <a:p>
            <a:r>
              <a:rPr lang="en-US" sz="1800" dirty="0">
                <a:hlinkClick r:id="rId7"/>
              </a:rPr>
              <a:t>https://ourworldindata.org/fossil-fuels</a:t>
            </a:r>
            <a:endParaRPr lang="en-US" sz="1800" dirty="0"/>
          </a:p>
          <a:p>
            <a:r>
              <a:rPr lang="en-US" sz="1800" dirty="0">
                <a:hlinkClick r:id="rId8"/>
              </a:rPr>
              <a:t>https://ourworldindata.org/renewable-energy</a:t>
            </a:r>
            <a:endParaRPr lang="en-US" sz="1800" dirty="0"/>
          </a:p>
          <a:p>
            <a:r>
              <a:rPr lang="en-US" sz="1800" dirty="0">
                <a:hlinkClick r:id="rId9"/>
              </a:rPr>
              <a:t>https://ourworldindata.org/global-education</a:t>
            </a:r>
            <a:endParaRPr lang="en-US" sz="1800" dirty="0"/>
          </a:p>
          <a:p>
            <a:r>
              <a:rPr lang="en-US" sz="1800" dirty="0">
                <a:hlinkClick r:id="rId10"/>
              </a:rPr>
              <a:t>https://data.worldbank.org/indicator/NY.GDP.MKTP.CD?end=2023&amp;start=1960</a:t>
            </a:r>
            <a:endParaRPr lang="en-US" sz="18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30909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553</Words>
  <Application>Microsoft Office PowerPoint</Application>
  <PresentationFormat>Widescreen</PresentationFormat>
  <Paragraphs>89</Paragraphs>
  <Slides>13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Wingdings</vt:lpstr>
      <vt:lpstr>Office Theme</vt:lpstr>
      <vt:lpstr>Energy Industry Projections</vt:lpstr>
      <vt:lpstr>Data Collection &amp; Expected Signs of Variables</vt:lpstr>
      <vt:lpstr>Generate Log Differences of Variables</vt:lpstr>
      <vt:lpstr>Empirical Models</vt:lpstr>
      <vt:lpstr>Predicting Fossil Fuel Energy Consumption</vt:lpstr>
      <vt:lpstr>Further Testing</vt:lpstr>
      <vt:lpstr>Predicting Renewable Energy Consumption</vt:lpstr>
      <vt:lpstr>Further Testing (again)</vt:lpstr>
      <vt:lpstr>Why does this matter to business majors?</vt:lpstr>
      <vt:lpstr>Further Testing (again, again)</vt:lpstr>
      <vt:lpstr>One final regression!</vt:lpstr>
      <vt:lpstr>Further Testing (again, again, again)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Reiser (Student)</dc:creator>
  <cp:lastModifiedBy>Ryan Reiser (Student)</cp:lastModifiedBy>
  <cp:revision>3</cp:revision>
  <dcterms:created xsi:type="dcterms:W3CDTF">2025-04-20T21:47:31Z</dcterms:created>
  <dcterms:modified xsi:type="dcterms:W3CDTF">2025-04-22T16:27:54Z</dcterms:modified>
</cp:coreProperties>
</file>